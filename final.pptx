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3"/>
  </p:notesMasterIdLst>
  <p:sldIdLst>
    <p:sldId id="256" r:id="rId3"/>
    <p:sldId id="257" r:id="rId4"/>
    <p:sldId id="258" r:id="rId5"/>
    <p:sldId id="268" r:id="rId6"/>
    <p:sldId id="259" r:id="rId7"/>
    <p:sldId id="260" r:id="rId8"/>
    <p:sldId id="275" r:id="rId9"/>
    <p:sldId id="261" r:id="rId10"/>
    <p:sldId id="274" r:id="rId11"/>
    <p:sldId id="262" r:id="rId12"/>
    <p:sldId id="263" r:id="rId13"/>
    <p:sldId id="271" r:id="rId14"/>
    <p:sldId id="272" r:id="rId15"/>
    <p:sldId id="273" r:id="rId16"/>
    <p:sldId id="276" r:id="rId17"/>
    <p:sldId id="264" r:id="rId18"/>
    <p:sldId id="270" r:id="rId19"/>
    <p:sldId id="269" r:id="rId20"/>
    <p:sldId id="265" r:id="rId21"/>
    <p:sldId id="26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2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59" d="100"/>
          <a:sy n="59" d="100"/>
        </p:scale>
        <p:origin x="1500" y="52"/>
      </p:cViewPr>
      <p:guideLst>
        <p:guide orient="horz" pos="2196"/>
        <p:guide pos="284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E5786-4086-478B-8A49-0BC3C6C9FE58}"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013D3-E5CA-4932-96B4-6B742C64DBC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2A725AE-B5E3-4CCF-BE97-D3F965F9D8B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398432-41DD-4534-BBFC-AAFF620265B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299B6B8-E61F-4AB5-B89B-21302AA9BCF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72E004D-B52F-4054-92B2-599D7D129F6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68B0DA4-9FAA-4530-8DBC-6E2E4DF7498A}"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43D75-0EC0-46D2-9AB0-5BBC60A36E27}"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8C966-7E63-4B45-9A80-41EE244A149A}"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AC28896-E1EF-448A-8396-7F91C5BBD7DA}"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23744E-7D80-4A3C-A7B5-85D490693ABB}"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1716724-E3BA-487F-85DD-BA9A29E68FF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53E7A44-961B-4B93-B1BE-CADC89C154F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5F2043-1B5F-4278-A029-5B3F4038764F}"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z="3600" b="1" dirty="0"/>
              <a:t>Multiple Disease Prediction System</a:t>
            </a:r>
            <a:endParaRPr sz="3600" b="1" dirty="0"/>
          </a:p>
        </p:txBody>
      </p:sp>
      <p:sp>
        <p:nvSpPr>
          <p:cNvPr id="3" name="Subtitle 2"/>
          <p:cNvSpPr>
            <a:spLocks noGrp="1"/>
          </p:cNvSpPr>
          <p:nvPr>
            <p:ph type="subTitle" idx="1"/>
          </p:nvPr>
        </p:nvSpPr>
        <p:spPr>
          <a:xfrm>
            <a:off x="5707294" y="3959761"/>
            <a:ext cx="2964095" cy="468401"/>
          </a:xfrm>
        </p:spPr>
        <p:txBody>
          <a:bodyPr>
            <a:noAutofit/>
          </a:bodyPr>
          <a:lstStyle/>
          <a:p>
            <a:r>
              <a:rPr sz="1800" b="1" dirty="0">
                <a:solidFill>
                  <a:schemeClr val="accent2"/>
                </a:solidFill>
              </a:rPr>
              <a:t>Guide Name</a:t>
            </a:r>
            <a:r>
              <a:rPr lang="en-US" sz="1800" b="1" dirty="0">
                <a:solidFill>
                  <a:schemeClr val="accent2"/>
                </a:solidFill>
              </a:rPr>
              <a:t>:</a:t>
            </a:r>
            <a:endParaRPr lang="en-US" sz="1800" b="1" dirty="0">
              <a:solidFill>
                <a:schemeClr val="accent2"/>
              </a:solidFill>
            </a:endParaRPr>
          </a:p>
          <a:p>
            <a:r>
              <a:rPr lang="en-US" sz="1800" b="1" dirty="0" err="1">
                <a:solidFill>
                  <a:schemeClr val="accent2"/>
                </a:solidFill>
              </a:rPr>
              <a:t>Prof.Manjunath</a:t>
            </a:r>
            <a:endParaRPr sz="1800" b="1" dirty="0">
              <a:solidFill>
                <a:schemeClr val="accent2"/>
              </a:solidFill>
            </a:endParaRPr>
          </a:p>
        </p:txBody>
      </p:sp>
      <p:graphicFrame>
        <p:nvGraphicFramePr>
          <p:cNvPr id="4" name="Table 3"/>
          <p:cNvGraphicFramePr>
            <a:graphicFrameLocks noGrp="1"/>
          </p:cNvGraphicFramePr>
          <p:nvPr/>
        </p:nvGraphicFramePr>
        <p:xfrm>
          <a:off x="326062" y="380746"/>
          <a:ext cx="8804953" cy="709295"/>
        </p:xfrm>
        <a:graphic>
          <a:graphicData uri="http://schemas.openxmlformats.org/drawingml/2006/table">
            <a:tbl>
              <a:tblPr firstRow="1" firstCol="1" bandRow="1">
                <a:tableStyleId>{5C22544A-7EE6-4342-B048-85BDC9FD1C3A}</a:tableStyleId>
              </a:tblPr>
              <a:tblGrid>
                <a:gridCol w="770562"/>
                <a:gridCol w="8034391"/>
              </a:tblGrid>
              <a:tr h="709295">
                <a:tc>
                  <a:txBody>
                    <a:bodyPr/>
                    <a:lstStyle/>
                    <a:p>
                      <a:pPr>
                        <a:lnSpc>
                          <a:spcPct val="107000"/>
                        </a:lnSpc>
                        <a:buNone/>
                      </a:pPr>
                      <a:endParaRPr lang="en-US" sz="1100" kern="100" dirty="0">
                        <a:solidFill>
                          <a:srgbClr val="FF0000"/>
                        </a:solidFill>
                        <a:effectLst/>
                        <a:latin typeface="Aptos" panose="020B0004020202020204" pitchFamily="34" charset="0"/>
                      </a:endParaRPr>
                    </a:p>
                  </a:txBody>
                  <a:tcPr marL="68580" marR="68580" marT="0" marB="0">
                    <a:solidFill>
                      <a:schemeClr val="bg1"/>
                    </a:solidFill>
                  </a:tcPr>
                </a:tc>
                <a:tc>
                  <a:txBody>
                    <a:bodyPr/>
                    <a:lstStyle/>
                    <a:p>
                      <a:pPr marL="0" indent="0">
                        <a:lnSpc>
                          <a:spcPct val="100000"/>
                        </a:lnSpc>
                        <a:buNone/>
                        <a:tabLst>
                          <a:tab pos="2865755" algn="ctr"/>
                          <a:tab pos="5731510" algn="r"/>
                        </a:tabLst>
                      </a:pPr>
                      <a:r>
                        <a:rPr lang="en-IN" sz="1600" kern="50" dirty="0">
                          <a:solidFill>
                            <a:srgbClr val="FF0000"/>
                          </a:solidFill>
                          <a:effectLst/>
                        </a:rPr>
                        <a:t>  </a:t>
                      </a:r>
                      <a:r>
                        <a:rPr lang="en-IN" sz="3200" kern="50" dirty="0">
                          <a:solidFill>
                            <a:schemeClr val="tx2"/>
                          </a:solidFill>
                          <a:effectLst/>
                        </a:rPr>
                        <a:t>JAIN COLLEGE OF ENGINEERING(JCE), Belagavi</a:t>
                      </a:r>
                      <a:endParaRPr lang="en-US" sz="1200" kern="50" dirty="0">
                        <a:solidFill>
                          <a:schemeClr val="tx2"/>
                        </a:solidFill>
                        <a:effectLst/>
                      </a:endParaRPr>
                    </a:p>
                    <a:p>
                      <a:pPr>
                        <a:lnSpc>
                          <a:spcPct val="100000"/>
                        </a:lnSpc>
                        <a:buNone/>
                        <a:tabLst>
                          <a:tab pos="2865755" algn="ctr"/>
                          <a:tab pos="5731510" algn="r"/>
                        </a:tabLst>
                      </a:pPr>
                      <a:r>
                        <a:rPr lang="en-IN" sz="1200" kern="50" dirty="0">
                          <a:solidFill>
                            <a:schemeClr val="tx2"/>
                          </a:solidFill>
                          <a:effectLst/>
                        </a:rPr>
                        <a:t>                                                   (Approved by AICTE, New Delhi &amp; Affiliated to VTU, Belagavi)</a:t>
                      </a:r>
                      <a:endParaRPr lang="en-US" sz="1200" kern="50" dirty="0">
                        <a:solidFill>
                          <a:schemeClr val="tx2"/>
                        </a:solidFill>
                        <a:effectLst/>
                      </a:endParaRPr>
                    </a:p>
                  </a:txBody>
                  <a:tcPr marL="68580" marR="68580" marT="0" marB="0">
                    <a:solidFill>
                      <a:schemeClr val="bg1"/>
                    </a:solidFill>
                  </a:tcPr>
                </a:tc>
              </a:tr>
            </a:tbl>
          </a:graphicData>
        </a:graphic>
      </p:graphicFrame>
      <p:sp>
        <p:nvSpPr>
          <p:cNvPr id="5" name="Rectangle 2"/>
          <p:cNvSpPr>
            <a:spLocks noChangeArrowheads="1"/>
          </p:cNvSpPr>
          <p:nvPr/>
        </p:nvSpPr>
        <p:spPr bwMode="auto">
          <a:xfrm>
            <a:off x="1045253" y="425379"/>
            <a:ext cx="184731" cy="369332"/>
          </a:xfrm>
          <a:prstGeom prst="rect">
            <a:avLst/>
          </a:prstGeom>
          <a:solidFill>
            <a:schemeClr val="bg1"/>
          </a:solidFill>
          <a:ln>
            <a:noFill/>
          </a:ln>
          <a:effectLst/>
        </p:spPr>
        <p:txBody>
          <a:bodyPr vert="horz" wrap="none" lIns="91440" tIns="45720" rIns="91440" bIns="45720" numCol="1" anchor="ctr" anchorCtr="0" compatLnSpc="1">
            <a:spAutoFit/>
          </a:bodyPr>
          <a:lstStyle/>
          <a:p>
            <a:endParaRPr lang="en-US">
              <a:solidFill>
                <a:srgbClr val="FF0000"/>
              </a:solidFill>
            </a:endParaRPr>
          </a:p>
        </p:txBody>
      </p:sp>
      <p:pic>
        <p:nvPicPr>
          <p:cNvPr id="10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799" y="347091"/>
            <a:ext cx="857250" cy="742950"/>
          </a:xfrm>
          <a:prstGeom prst="rect">
            <a:avLst/>
          </a:prstGeom>
          <a:solidFill>
            <a:schemeClr val="bg1"/>
          </a:solidFill>
        </p:spPr>
      </p:pic>
      <p:sp>
        <p:nvSpPr>
          <p:cNvPr id="7" name="TextBox 6"/>
          <p:cNvSpPr txBox="1"/>
          <p:nvPr/>
        </p:nvSpPr>
        <p:spPr>
          <a:xfrm>
            <a:off x="1720920" y="1219200"/>
            <a:ext cx="6364841" cy="670440"/>
          </a:xfrm>
          <a:prstGeom prst="rect">
            <a:avLst/>
          </a:prstGeom>
          <a:noFill/>
        </p:spPr>
        <p:txBody>
          <a:bodyPr wrap="square">
            <a:spAutoFit/>
          </a:bodyPr>
          <a:lstStyle/>
          <a:p>
            <a:pPr algn="ctr">
              <a:lnSpc>
                <a:spcPct val="107000"/>
              </a:lnSpc>
              <a:buNone/>
              <a:tabLst>
                <a:tab pos="2865755" algn="ctr"/>
                <a:tab pos="5731510" algn="r"/>
              </a:tabLst>
            </a:pPr>
            <a:r>
              <a:rPr lang="en-IN" sz="1800" b="1" kern="50" dirty="0">
                <a:solidFill>
                  <a:schemeClr val="accent2"/>
                </a:solidFill>
                <a:effectLst/>
              </a:rPr>
              <a:t>DEPARTMENT OF COMPUTER SCIENCE AND ENGINEERING</a:t>
            </a:r>
            <a:endParaRPr lang="en-US" sz="1800" b="1" kern="50" dirty="0">
              <a:solidFill>
                <a:schemeClr val="accent2"/>
              </a:solidFill>
              <a:effectLst/>
            </a:endParaRPr>
          </a:p>
          <a:p>
            <a:pPr>
              <a:lnSpc>
                <a:spcPct val="107000"/>
              </a:lnSpc>
              <a:buNone/>
              <a:tabLst>
                <a:tab pos="2865755" algn="ctr"/>
                <a:tab pos="5731510" algn="r"/>
              </a:tabLst>
            </a:pPr>
            <a:r>
              <a:rPr lang="en-IN" sz="1800" b="1" kern="50" dirty="0">
                <a:solidFill>
                  <a:schemeClr val="accent2"/>
                </a:solidFill>
                <a:effectLst/>
              </a:rPr>
              <a:t>                                         (Accredited by NBA)</a:t>
            </a:r>
            <a:endParaRPr lang="en-US" sz="1800" b="1" kern="50" dirty="0">
              <a:solidFill>
                <a:schemeClr val="accent2"/>
              </a:solidFill>
              <a:effectLst/>
              <a:latin typeface="Liberation Serif"/>
              <a:ea typeface="Noto Sans CJK SC Regular"/>
              <a:cs typeface="Mangal" panose="020B0502040204020203" pitchFamily="18" charset="0"/>
            </a:endParaRPr>
          </a:p>
        </p:txBody>
      </p:sp>
      <p:graphicFrame>
        <p:nvGraphicFramePr>
          <p:cNvPr id="10" name="Table 9"/>
          <p:cNvGraphicFramePr>
            <a:graphicFrameLocks noGrp="1"/>
          </p:cNvGraphicFramePr>
          <p:nvPr/>
        </p:nvGraphicFramePr>
        <p:xfrm>
          <a:off x="218440" y="3905885"/>
          <a:ext cx="5948680" cy="1470025"/>
        </p:xfrm>
        <a:graphic>
          <a:graphicData uri="http://schemas.openxmlformats.org/drawingml/2006/table">
            <a:tbl>
              <a:tblPr firstRow="1" bandRow="1">
                <a:tableStyleId>{5C22544A-7EE6-4342-B048-85BDC9FD1C3A}</a:tableStyleId>
              </a:tblPr>
              <a:tblGrid>
                <a:gridCol w="2974340"/>
                <a:gridCol w="2974340"/>
              </a:tblGrid>
              <a:tr h="367506">
                <a:tc>
                  <a:txBody>
                    <a:bodyPr/>
                    <a:lstStyle/>
                    <a:p>
                      <a:r>
                        <a:rPr lang="en-IN" dirty="0" err="1">
                          <a:solidFill>
                            <a:schemeClr val="accent2"/>
                          </a:solidFill>
                        </a:rPr>
                        <a:t>Shrishail</a:t>
                      </a:r>
                      <a:r>
                        <a:rPr lang="en-IN" dirty="0">
                          <a:solidFill>
                            <a:schemeClr val="accent2"/>
                          </a:solidFill>
                        </a:rPr>
                        <a:t> K Bhagoji</a:t>
                      </a:r>
                      <a:endParaRPr lang="en-US"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dirty="0">
                          <a:solidFill>
                            <a:schemeClr val="accent2"/>
                          </a:solidFill>
                        </a:rPr>
                        <a:t>2JI22CS097</a:t>
                      </a:r>
                      <a:endParaRPr lang="en-US"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7506">
                <a:tc>
                  <a:txBody>
                    <a:bodyPr/>
                    <a:lstStyle/>
                    <a:p>
                      <a:r>
                        <a:rPr lang="en-IN" b="1" dirty="0" err="1">
                          <a:solidFill>
                            <a:schemeClr val="accent2"/>
                          </a:solidFill>
                        </a:rPr>
                        <a:t>Sudarshan.S.Khot</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dirty="0">
                          <a:solidFill>
                            <a:schemeClr val="accent2"/>
                          </a:solidFill>
                        </a:rPr>
                        <a:t>2JI22CS104</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7506">
                <a:tc>
                  <a:txBody>
                    <a:bodyPr/>
                    <a:lstStyle/>
                    <a:p>
                      <a:r>
                        <a:rPr lang="en-IN" b="1" dirty="0" err="1">
                          <a:solidFill>
                            <a:schemeClr val="accent2"/>
                          </a:solidFill>
                        </a:rPr>
                        <a:t>Vinod</a:t>
                      </a:r>
                      <a:r>
                        <a:rPr lang="en-IN" b="1" dirty="0">
                          <a:solidFill>
                            <a:schemeClr val="accent2"/>
                          </a:solidFill>
                        </a:rPr>
                        <a:t> B Sajjan</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dirty="0">
                          <a:solidFill>
                            <a:schemeClr val="accent2"/>
                          </a:solidFill>
                        </a:rPr>
                        <a:t>2JI22CS121</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7506">
                <a:tc>
                  <a:txBody>
                    <a:bodyPr/>
                    <a:lstStyle/>
                    <a:p>
                      <a:r>
                        <a:rPr lang="en-IN" b="1" dirty="0" err="1">
                          <a:solidFill>
                            <a:schemeClr val="accent2"/>
                          </a:solidFill>
                        </a:rPr>
                        <a:t>Vivek</a:t>
                      </a:r>
                      <a:r>
                        <a:rPr lang="en-IN" b="1" dirty="0">
                          <a:solidFill>
                            <a:schemeClr val="accent2"/>
                          </a:solidFill>
                        </a:rPr>
                        <a:t> S </a:t>
                      </a:r>
                      <a:r>
                        <a:rPr lang="en-IN" b="1" dirty="0" err="1">
                          <a:solidFill>
                            <a:schemeClr val="accent2"/>
                          </a:solidFill>
                        </a:rPr>
                        <a:t>Lokolakar</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dirty="0">
                          <a:solidFill>
                            <a:schemeClr val="accent2"/>
                          </a:solidFill>
                        </a:rPr>
                        <a:t>2JI22CS123</a:t>
                      </a:r>
                      <a:endParaRPr lang="en-US" b="1" dirty="0">
                        <a:solidFill>
                          <a:schemeClr val="accent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1" name="TextBox 10"/>
          <p:cNvSpPr txBox="1"/>
          <p:nvPr/>
        </p:nvSpPr>
        <p:spPr>
          <a:xfrm>
            <a:off x="4099390" y="5969285"/>
            <a:ext cx="1376737" cy="369332"/>
          </a:xfrm>
          <a:prstGeom prst="rect">
            <a:avLst/>
          </a:prstGeom>
          <a:noFill/>
        </p:spPr>
        <p:txBody>
          <a:bodyPr wrap="square" rtlCol="0">
            <a:spAutoFit/>
          </a:bodyPr>
          <a:lstStyle/>
          <a:p>
            <a:r>
              <a:rPr lang="en-IN" dirty="0"/>
              <a:t>2025-26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dirty="0"/>
              <a:t>Abstract</a:t>
            </a:r>
            <a:endParaRPr sz="3000" b="1" dirty="0"/>
          </a:p>
        </p:txBody>
      </p:sp>
      <p:sp>
        <p:nvSpPr>
          <p:cNvPr id="3" name="Content Placeholder 2"/>
          <p:cNvSpPr>
            <a:spLocks noGrp="1"/>
          </p:cNvSpPr>
          <p:nvPr>
            <p:ph idx="1"/>
          </p:nvPr>
        </p:nvSpPr>
        <p:spPr>
          <a:xfrm>
            <a:off x="1007806" y="5533103"/>
            <a:ext cx="8229600" cy="4525963"/>
          </a:xfrm>
        </p:spPr>
        <p:txBody>
          <a:bodyPr/>
          <a:lstStyle/>
          <a:p>
            <a:pPr marL="0" indent="0">
              <a:buNone/>
            </a:pPr>
            <a:endParaRPr sz="2000" b="0" dirty="0"/>
          </a:p>
          <a:p>
            <a:pPr marL="0" indent="0">
              <a:buNone/>
            </a:pPr>
            <a:endParaRPr sz="2000" b="0" dirty="0"/>
          </a:p>
        </p:txBody>
      </p:sp>
      <p:sp>
        <p:nvSpPr>
          <p:cNvPr id="4" name="Date Placeholder 3"/>
          <p:cNvSpPr>
            <a:spLocks noGrp="1"/>
          </p:cNvSpPr>
          <p:nvPr>
            <p:ph type="dt" sz="half" idx="10"/>
          </p:nvPr>
        </p:nvSpPr>
        <p:spPr/>
        <p:txBody>
          <a:bodyPr/>
          <a:lstStyle/>
          <a:p>
            <a:fld id="{7AFF6CB1-2D33-499D-ADA7-C3A5A7152DA5}"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
        <p:nvSpPr>
          <p:cNvPr id="15" name="Rectangle 10"/>
          <p:cNvSpPr>
            <a:spLocks noChangeArrowheads="1"/>
          </p:cNvSpPr>
          <p:nvPr/>
        </p:nvSpPr>
        <p:spPr bwMode="auto">
          <a:xfrm>
            <a:off x="720213" y="670540"/>
            <a:ext cx="7703574" cy="563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Multiple Disease Prediction System</a:t>
            </a:r>
            <a:r>
              <a:rPr lang="en-US" dirty="0">
                <a:latin typeface="Times New Roman" panose="02020603050405020304" pitchFamily="18" charset="0"/>
                <a:cs typeface="Times New Roman" panose="02020603050405020304" pitchFamily="18" charset="0"/>
              </a:rPr>
              <a:t> is a </a:t>
            </a:r>
            <a:r>
              <a:rPr lang="en-IN" altLang="en-US" dirty="0">
                <a:latin typeface="Times New Roman" panose="02020603050405020304" pitchFamily="18" charset="0"/>
                <a:cs typeface="Times New Roman" panose="02020603050405020304" pitchFamily="18" charset="0"/>
              </a:rPr>
              <a:t>ML and DL</a:t>
            </a:r>
            <a:r>
              <a:rPr lang="en-US" dirty="0">
                <a:latin typeface="Times New Roman" panose="02020603050405020304" pitchFamily="18" charset="0"/>
                <a:cs typeface="Times New Roman" panose="02020603050405020304" pitchFamily="18" charset="0"/>
              </a:rPr>
              <a:t>-based application designed to predict diseases such as diabetes, heart disease,  Parkinson’s disease , Breast cancer , Stroke prediction, Kidney disease prediction, pneumonia prediction , Eye Disease prediction ,Lung cancer prediction using patient health data.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takes input parameters like age, blood pressure, glucose level, and other medical attributes.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applies machine learning algorithms such as Logistic Regression, Decision Tree, and Random Forest to analyze the data.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is trained using medical datasets to ensure accurate predictions.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approach helps in early detection of diseases, reduces diagnostic time, and supports healthcare professionals in decision-making.</a:t>
            </a:r>
            <a:endParaRPr 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provides quick and reliable results through a user-friendly interface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latin typeface="Times New Roman" panose="02020603050405020304" pitchFamily="18" charset="0"/>
                <a:cs typeface="Times New Roman" panose="02020603050405020304" pitchFamily="18" charset="0"/>
              </a:rPr>
              <a:t>Introduction</a:t>
            </a:r>
            <a:endParaRPr sz="30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sz="2200" b="0" dirty="0">
                <a:latin typeface="Times New Roman" panose="02020603050405020304" pitchFamily="18" charset="0"/>
                <a:cs typeface="Times New Roman" panose="02020603050405020304" pitchFamily="18" charset="0"/>
              </a:rPr>
              <a:t>Background</a:t>
            </a:r>
            <a:endParaRPr lang="en-US" sz="2200" b="0" dirty="0">
              <a:latin typeface="Times New Roman" panose="02020603050405020304" pitchFamily="18" charset="0"/>
              <a:cs typeface="Times New Roman" panose="02020603050405020304" pitchFamily="18" charset="0"/>
            </a:endParaRPr>
          </a:p>
          <a:p>
            <a:pPr marL="0" indent="0" algn="just">
              <a:buNone/>
            </a:pPr>
            <a:r>
              <a:rPr lang="en-US" sz="2000" dirty="0"/>
              <a:t>	</a:t>
            </a:r>
            <a:r>
              <a:rPr lang="en-US" sz="1800" dirty="0">
                <a:latin typeface="Times New Roman" panose="02020603050405020304" pitchFamily="18" charset="0"/>
                <a:cs typeface="Times New Roman" panose="02020603050405020304" pitchFamily="18" charset="0"/>
              </a:rPr>
              <a:t>Healthcare systems need fast and accurate disease diagnosis.</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Machine learning helps analyze medical data and predict diseases 		efficiently.</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	Early detection can reduce risks and improve patient outcomes.</a:t>
            </a:r>
            <a:endParaRPr lang="en-US" sz="1800" dirty="0">
              <a:latin typeface="Times New Roman" panose="02020603050405020304" pitchFamily="18" charset="0"/>
              <a:cs typeface="Times New Roman" panose="02020603050405020304" pitchFamily="18" charset="0"/>
            </a:endParaRPr>
          </a:p>
          <a:p>
            <a:pPr marL="0" indent="0" algn="just">
              <a:buNone/>
            </a:pPr>
            <a:endParaRPr sz="1800" b="0" dirty="0"/>
          </a:p>
          <a:p>
            <a:r>
              <a:rPr sz="2200" b="0" dirty="0">
                <a:latin typeface="Times New Roman" panose="02020603050405020304" pitchFamily="18" charset="0"/>
                <a:cs typeface="Times New Roman" panose="02020603050405020304" pitchFamily="18" charset="0"/>
              </a:rPr>
              <a:t>Problem Definition</a:t>
            </a:r>
            <a:r>
              <a:rPr lang="en-US" sz="2200" b="0" dirty="0"/>
              <a:t> </a:t>
            </a:r>
            <a:endParaRPr lang="en-US" sz="2200" b="0" dirty="0"/>
          </a:p>
          <a:p>
            <a:pPr marL="0" indent="0" algn="just">
              <a:buNone/>
            </a:pPr>
            <a:r>
              <a:rPr lang="en-US" sz="2000" dirty="0"/>
              <a:t>  	</a:t>
            </a:r>
            <a:r>
              <a:rPr lang="en-US" sz="1800" dirty="0">
                <a:latin typeface="Times New Roman" panose="02020603050405020304" pitchFamily="18" charset="0"/>
                <a:cs typeface="Times New Roman" panose="02020603050405020304" pitchFamily="18" charset="0"/>
              </a:rPr>
              <a:t>Traditional disease diagnosis is time-consuming and depends on medical expertise, which may lead to delays and errors. Existing systems usually focus on predicting only one disease and lack an integrated approach. Therefore, there is a need for an efficient system that can accurately predict multiple diseases at an early stage using patient data.</a:t>
            </a:r>
            <a:endParaRPr sz="1800" b="0" dirty="0">
              <a:latin typeface="Times New Roman" panose="02020603050405020304" pitchFamily="18" charset="0"/>
              <a:cs typeface="Times New Roman" panose="02020603050405020304" pitchFamily="18" charset="0"/>
            </a:endParaRPr>
          </a:p>
          <a:p>
            <a:pPr marL="0" indent="0">
              <a:buNone/>
            </a:pPr>
            <a:endParaRPr sz="2000" b="0" dirty="0"/>
          </a:p>
        </p:txBody>
      </p:sp>
      <p:sp>
        <p:nvSpPr>
          <p:cNvPr id="4" name="Date Placeholder 3"/>
          <p:cNvSpPr>
            <a:spLocks noGrp="1"/>
          </p:cNvSpPr>
          <p:nvPr>
            <p:ph type="dt" sz="half" idx="10"/>
          </p:nvPr>
        </p:nvSpPr>
        <p:spPr/>
        <p:txBody>
          <a:bodyPr/>
          <a:lstStyle/>
          <a:p>
            <a:fld id="{9B88994D-33A2-4DC3-923C-2B21F3670E7C}"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36525"/>
            <a:ext cx="8229600" cy="138113"/>
          </a:xfrm>
        </p:spPr>
        <p:txBody>
          <a:bodyPr>
            <a:normAutofit fontScale="90000"/>
          </a:bodyPr>
          <a:lstStyle/>
          <a:p>
            <a:r>
              <a:rPr lang="en-US" sz="3000" b="1" dirty="0"/>
              <a:t> </a:t>
            </a:r>
            <a:endParaRPr sz="3000" b="1" dirty="0"/>
          </a:p>
        </p:txBody>
      </p:sp>
      <p:sp>
        <p:nvSpPr>
          <p:cNvPr id="3" name="Content Placeholder 2"/>
          <p:cNvSpPr>
            <a:spLocks noGrp="1"/>
          </p:cNvSpPr>
          <p:nvPr>
            <p:ph idx="1"/>
          </p:nvPr>
        </p:nvSpPr>
        <p:spPr>
          <a:xfrm>
            <a:off x="457200" y="698551"/>
            <a:ext cx="8229600" cy="5270757"/>
          </a:xfrm>
        </p:spPr>
        <p:txBody>
          <a:bodyPr>
            <a:normAutofit/>
          </a:bodyPr>
          <a:lstStyle/>
          <a:p>
            <a:r>
              <a:rPr lang="en-US" sz="2200" b="1" dirty="0">
                <a:latin typeface="Times New Roman" panose="02020603050405020304" pitchFamily="18" charset="0"/>
                <a:cs typeface="Times New Roman" panose="02020603050405020304" pitchFamily="18" charset="0"/>
              </a:rPr>
              <a:t>Objectives</a:t>
            </a:r>
            <a:endParaRPr lang="en-US" sz="2200" b="1"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develop a system that can predict multiple diseases using machine learning techniques. </a:t>
            </a: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analyze patient health data for accurate disease prediction. </a:t>
            </a: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improve prediction accuracy using efficient algorithms like Logistic Regression and Random Forest. </a:t>
            </a: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provide a simple and user-friendly interface for users. </a:t>
            </a: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enable early detection of diseases and support timely medical decisions. </a:t>
            </a: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endParaRPr lang="en-US" sz="2000"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sz="2000" dirty="0">
                <a:latin typeface="Times New Roman" panose="02020603050405020304" pitchFamily="18" charset="0"/>
                <a:cs typeface="Times New Roman" panose="02020603050405020304" pitchFamily="18" charset="0"/>
              </a:rPr>
              <a:t>To reduce manual effort and minimize errors in diagnosis.</a:t>
            </a:r>
            <a:endParaRPr lang="en-US" sz="2000" dirty="0">
              <a:latin typeface="Times New Roman" panose="02020603050405020304" pitchFamily="18" charset="0"/>
              <a:cs typeface="Times New Roman" panose="02020603050405020304" pitchFamily="18" charset="0"/>
            </a:endParaRPr>
          </a:p>
          <a:p>
            <a:pPr marL="0" indent="0">
              <a:buNone/>
            </a:pPr>
            <a:endParaRPr sz="2000" b="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B88994D-33A2-4DC3-923C-2B21F3670E7C}" type="datetime1">
              <a:rPr lang="en-US" smtClean="0"/>
            </a:fld>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latin typeface="Times New Roman" panose="02020603050405020304" pitchFamily="18" charset="0"/>
                <a:cs typeface="Times New Roman" panose="02020603050405020304" pitchFamily="18" charset="0"/>
              </a:rPr>
              <a:t>Literature Survey</a:t>
            </a:r>
            <a:endParaRPr sz="30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5858" y="1036589"/>
            <a:ext cx="8229600" cy="3205900"/>
          </a:xfrm>
        </p:spPr>
        <p:txBody>
          <a:bodyPr>
            <a:normAutofit fontScale="92500" lnSpcReduction="10000"/>
          </a:bodyPr>
          <a:lstStyle/>
          <a:p>
            <a:r>
              <a:rPr sz="2000" b="1" dirty="0">
                <a:latin typeface="Times New Roman" panose="02020603050405020304" pitchFamily="18" charset="0"/>
                <a:cs typeface="Times New Roman" panose="02020603050405020304" pitchFamily="18" charset="0"/>
              </a:rPr>
              <a:t>Existing systems</a:t>
            </a:r>
            <a:r>
              <a:rPr lang="en-US"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Existing systems use machine learning algorithms such as Logistic Regression, Decision Trees, and SVM to predict diseases like diabetes, heart disease, and Parkinson’s disease. These systems provide good accuracy but are mostly limited to predicting a single disease</a:t>
            </a:r>
            <a:r>
              <a:rPr lang="en-US" sz="1800" dirty="0"/>
              <a:t>.</a:t>
            </a:r>
            <a:endParaRPr lang="en-US" sz="1800" dirty="0"/>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Research gap</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1700" dirty="0">
                <a:latin typeface="Times New Roman" panose="02020603050405020304" pitchFamily="18" charset="0"/>
                <a:cs typeface="Times New Roman" panose="02020603050405020304" pitchFamily="18" charset="0"/>
              </a:rPr>
              <a:t>	       There is no unified system that can predict multiple diseases efficiently in one platform. Existing models lack integration, scalability, and ease of use, creating the need for a comprehensive multi-disease prediction system.</a:t>
            </a:r>
            <a:endParaRPr sz="1700" b="1" dirty="0">
              <a:latin typeface="Times New Roman" panose="02020603050405020304" pitchFamily="18" charset="0"/>
              <a:cs typeface="Times New Roman" panose="02020603050405020304" pitchFamily="18" charset="0"/>
            </a:endParaRPr>
          </a:p>
          <a:p>
            <a:pPr marL="0" indent="0">
              <a:buNone/>
            </a:pPr>
            <a:endParaRPr lang="en-US" sz="2000" b="0" dirty="0"/>
          </a:p>
          <a:p>
            <a:r>
              <a:rPr lang="en-US" sz="2200" b="1" dirty="0" err="1">
                <a:latin typeface="Times New Roman" panose="02020603050405020304" pitchFamily="18" charset="0"/>
                <a:cs typeface="Times New Roman" panose="02020603050405020304" pitchFamily="18" charset="0"/>
              </a:rPr>
              <a:t>Comparision</a:t>
            </a:r>
            <a:endParaRPr sz="2200" b="1" dirty="0">
              <a:latin typeface="Times New Roman" panose="02020603050405020304" pitchFamily="18" charset="0"/>
              <a:cs typeface="Times New Roman" panose="02020603050405020304" pitchFamily="18" charset="0"/>
            </a:endParaRPr>
          </a:p>
          <a:p>
            <a:pPr marL="0" indent="0">
              <a:buNone/>
            </a:pPr>
            <a:endParaRPr sz="2000" b="0" dirty="0"/>
          </a:p>
        </p:txBody>
      </p:sp>
      <p:sp>
        <p:nvSpPr>
          <p:cNvPr id="4" name="Date Placeholder 3"/>
          <p:cNvSpPr>
            <a:spLocks noGrp="1"/>
          </p:cNvSpPr>
          <p:nvPr>
            <p:ph type="dt" sz="half" idx="10"/>
          </p:nvPr>
        </p:nvSpPr>
        <p:spPr/>
        <p:txBody>
          <a:bodyPr/>
          <a:lstStyle/>
          <a:p>
            <a:fld id="{FA975436-2169-4C17-B481-76A7A9A9E880}"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
        <p:nvSpPr>
          <p:cNvPr id="7" name="Rectangle 1"/>
          <p:cNvSpPr>
            <a:spLocks noChangeArrowheads="1"/>
          </p:cNvSpPr>
          <p:nvPr/>
        </p:nvSpPr>
        <p:spPr bwMode="auto">
          <a:xfrm>
            <a:off x="1194619" y="3836562"/>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nvGraphicFramePr>
        <p:xfrm>
          <a:off x="1120877" y="4153590"/>
          <a:ext cx="6096000" cy="2202760"/>
        </p:xfrm>
        <a:graphic>
          <a:graphicData uri="http://schemas.openxmlformats.org/drawingml/2006/table">
            <a:tbl>
              <a:tblPr firstRow="1" bandRow="1">
                <a:tableStyleId>{5C22544A-7EE6-4342-B048-85BDC9FD1C3A}</a:tableStyleId>
              </a:tblPr>
              <a:tblGrid>
                <a:gridCol w="2032000"/>
                <a:gridCol w="2032000"/>
                <a:gridCol w="2032000"/>
              </a:tblGrid>
              <a:tr h="0">
                <a:tc>
                  <a:txBody>
                    <a:bodyPr/>
                    <a:lstStyle/>
                    <a:p>
                      <a:r>
                        <a:rPr lang="en-US" dirty="0"/>
                        <a:t>Feature</a:t>
                      </a:r>
                      <a:endParaRPr lang="en-IN" dirty="0"/>
                    </a:p>
                  </a:txBody>
                  <a:tcPr/>
                </a:tc>
                <a:tc>
                  <a:txBody>
                    <a:bodyPr/>
                    <a:lstStyle/>
                    <a:p>
                      <a:r>
                        <a:rPr lang="en-US" dirty="0"/>
                        <a:t>Existing System</a:t>
                      </a:r>
                      <a:endParaRPr lang="en-IN" dirty="0"/>
                    </a:p>
                  </a:txBody>
                  <a:tcPr/>
                </a:tc>
                <a:tc>
                  <a:txBody>
                    <a:bodyPr/>
                    <a:lstStyle/>
                    <a:p>
                      <a:r>
                        <a:rPr lang="en-US" dirty="0"/>
                        <a:t>Proposed System</a:t>
                      </a:r>
                      <a:endParaRPr lang="en-IN" dirty="0"/>
                    </a:p>
                  </a:txBody>
                  <a:tcPr/>
                </a:tc>
              </a:tr>
              <a:tr h="367400">
                <a:tc>
                  <a:txBody>
                    <a:bodyPr/>
                    <a:lstStyle/>
                    <a:p>
                      <a:r>
                        <a:rPr lang="en-US" dirty="0"/>
                        <a:t>Disease Prediction</a:t>
                      </a:r>
                      <a:endParaRPr lang="en-IN" dirty="0"/>
                    </a:p>
                  </a:txBody>
                  <a:tcPr/>
                </a:tc>
                <a:tc>
                  <a:txBody>
                    <a:bodyPr/>
                    <a:lstStyle/>
                    <a:p>
                      <a:r>
                        <a:rPr lang="en-US" dirty="0"/>
                        <a:t>Single disease</a:t>
                      </a:r>
                      <a:endParaRPr lang="en-IN" dirty="0"/>
                    </a:p>
                  </a:txBody>
                  <a:tcPr/>
                </a:tc>
                <a:tc>
                  <a:txBody>
                    <a:bodyPr/>
                    <a:lstStyle/>
                    <a:p>
                      <a:r>
                        <a:rPr lang="en-US" dirty="0"/>
                        <a:t>Multiple Diseases</a:t>
                      </a:r>
                      <a:endParaRPr lang="en-IN" dirty="0"/>
                    </a:p>
                  </a:txBody>
                  <a:tcPr/>
                </a:tc>
              </a:tr>
              <a:tr h="367400">
                <a:tc>
                  <a:txBody>
                    <a:bodyPr/>
                    <a:lstStyle/>
                    <a:p>
                      <a:r>
                        <a:rPr lang="en-US" dirty="0"/>
                        <a:t>Accuracy</a:t>
                      </a:r>
                      <a:endParaRPr lang="en-IN" dirty="0"/>
                    </a:p>
                  </a:txBody>
                  <a:tcPr/>
                </a:tc>
                <a:tc>
                  <a:txBody>
                    <a:bodyPr/>
                    <a:lstStyle/>
                    <a:p>
                      <a:r>
                        <a:rPr lang="en-US" dirty="0"/>
                        <a:t>Moderate</a:t>
                      </a:r>
                      <a:endParaRPr lang="en-IN" dirty="0"/>
                    </a:p>
                  </a:txBody>
                  <a:tcPr/>
                </a:tc>
                <a:tc>
                  <a:txBody>
                    <a:bodyPr/>
                    <a:lstStyle/>
                    <a:p>
                      <a:r>
                        <a:rPr lang="en-US" dirty="0"/>
                        <a:t>High</a:t>
                      </a:r>
                      <a:endParaRPr lang="en-IN" dirty="0"/>
                    </a:p>
                  </a:txBody>
                  <a:tcPr/>
                </a:tc>
              </a:tr>
              <a:tr h="367400">
                <a:tc>
                  <a:txBody>
                    <a:bodyPr/>
                    <a:lstStyle/>
                    <a:p>
                      <a:r>
                        <a:rPr lang="en-US" dirty="0"/>
                        <a:t>Speed</a:t>
                      </a:r>
                      <a:endParaRPr lang="en-IN" dirty="0"/>
                    </a:p>
                  </a:txBody>
                  <a:tcPr/>
                </a:tc>
                <a:tc>
                  <a:txBody>
                    <a:bodyPr/>
                    <a:lstStyle/>
                    <a:p>
                      <a:r>
                        <a:rPr lang="en-US" dirty="0"/>
                        <a:t>Slower</a:t>
                      </a:r>
                      <a:endParaRPr lang="en-IN" dirty="0"/>
                    </a:p>
                  </a:txBody>
                  <a:tcPr/>
                </a:tc>
                <a:tc>
                  <a:txBody>
                    <a:bodyPr/>
                    <a:lstStyle/>
                    <a:p>
                      <a:r>
                        <a:rPr lang="en-US" dirty="0"/>
                        <a:t>Faster</a:t>
                      </a:r>
                      <a:endParaRPr lang="en-IN" dirty="0"/>
                    </a:p>
                  </a:txBody>
                  <a:tcPr/>
                </a:tc>
              </a:tr>
              <a:tr h="367400">
                <a:tc>
                  <a:txBody>
                    <a:bodyPr/>
                    <a:lstStyle/>
                    <a:p>
                      <a:r>
                        <a:rPr lang="en-US" dirty="0"/>
                        <a:t>Integration</a:t>
                      </a:r>
                      <a:endParaRPr lang="en-IN" dirty="0"/>
                    </a:p>
                  </a:txBody>
                  <a:tcPr/>
                </a:tc>
                <a:tc>
                  <a:txBody>
                    <a:bodyPr/>
                    <a:lstStyle/>
                    <a:p>
                      <a:r>
                        <a:rPr lang="en-US" dirty="0"/>
                        <a:t>Not Available</a:t>
                      </a:r>
                      <a:endParaRPr lang="en-IN" dirty="0"/>
                    </a:p>
                  </a:txBody>
                  <a:tcPr/>
                </a:tc>
                <a:tc>
                  <a:txBody>
                    <a:bodyPr/>
                    <a:lstStyle/>
                    <a:p>
                      <a:r>
                        <a:rPr lang="en-US" dirty="0"/>
                        <a:t>Available</a:t>
                      </a:r>
                      <a:endParaRPr lang="en-IN" dirty="0"/>
                    </a:p>
                  </a:txBody>
                  <a:tcPr/>
                </a:tc>
              </a:tr>
              <a:tr h="367400">
                <a:tc>
                  <a:txBody>
                    <a:bodyPr/>
                    <a:lstStyle/>
                    <a:p>
                      <a:r>
                        <a:rPr lang="en-US" dirty="0"/>
                        <a:t>User Interface</a:t>
                      </a:r>
                      <a:endParaRPr lang="en-IN" dirty="0"/>
                    </a:p>
                  </a:txBody>
                  <a:tcPr/>
                </a:tc>
                <a:tc>
                  <a:txBody>
                    <a:bodyPr/>
                    <a:lstStyle/>
                    <a:p>
                      <a:r>
                        <a:rPr lang="en-US" dirty="0"/>
                        <a:t>Less User Friendly</a:t>
                      </a:r>
                      <a:endParaRPr lang="en-IN" dirty="0"/>
                    </a:p>
                  </a:txBody>
                  <a:tcPr/>
                </a:tc>
                <a:tc>
                  <a:txBody>
                    <a:bodyPr/>
                    <a:lstStyle/>
                    <a:p>
                      <a:r>
                        <a:rPr lang="en-US" dirty="0"/>
                        <a:t>User-Friendly</a:t>
                      </a:r>
                      <a:endParaRPr lang="en-IN"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48360"/>
          </a:xfrm>
        </p:spPr>
        <p:txBody>
          <a:bodyPr/>
          <a:lstStyle/>
          <a:p>
            <a:r>
              <a:rPr sz="3000" b="1" dirty="0">
                <a:latin typeface="Times New Roman" panose="02020603050405020304" pitchFamily="18" charset="0"/>
                <a:cs typeface="Times New Roman" panose="02020603050405020304" pitchFamily="18" charset="0"/>
              </a:rPr>
              <a:t>System Architecture</a:t>
            </a:r>
            <a:endParaRPr sz="30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pic>
        <p:nvPicPr>
          <p:cNvPr id="7" name="Picture 6"/>
          <p:cNvPicPr>
            <a:picLocks noChangeAspect="1"/>
          </p:cNvPicPr>
          <p:nvPr/>
        </p:nvPicPr>
        <p:blipFill>
          <a:blip r:embed="rId1"/>
          <a:stretch>
            <a:fillRect/>
          </a:stretch>
        </p:blipFill>
        <p:spPr>
          <a:xfrm>
            <a:off x="1175385" y="673735"/>
            <a:ext cx="6727190" cy="61131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pic>
        <p:nvPicPr>
          <p:cNvPr id="2" name="Picture 1" descr="module overview"/>
          <p:cNvPicPr>
            <a:picLocks noChangeAspect="1"/>
          </p:cNvPicPr>
          <p:nvPr/>
        </p:nvPicPr>
        <p:blipFill>
          <a:blip r:embed="rId1"/>
          <a:stretch>
            <a:fillRect/>
          </a:stretch>
        </p:blipFill>
        <p:spPr>
          <a:xfrm>
            <a:off x="0" y="0"/>
            <a:ext cx="9144000" cy="6704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latin typeface="Times New Roman" panose="02020603050405020304" pitchFamily="18" charset="0"/>
                <a:cs typeface="Times New Roman" panose="02020603050405020304" pitchFamily="18" charset="0"/>
              </a:rPr>
              <a:t>Methodology</a:t>
            </a:r>
            <a:endParaRPr sz="30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2335" y="979206"/>
            <a:ext cx="8229600" cy="5057800"/>
          </a:xfrm>
        </p:spPr>
        <p:txBody>
          <a:bodyPr>
            <a:noAutofit/>
          </a:bodyPr>
          <a:lstStyle/>
          <a:p>
            <a:r>
              <a:rPr lang="en-IN" sz="2000" b="1" dirty="0">
                <a:latin typeface="Times New Roman" panose="02020603050405020304" pitchFamily="18" charset="0"/>
                <a:cs typeface="Times New Roman" panose="02020603050405020304" pitchFamily="18" charset="0"/>
              </a:rPr>
              <a:t>Algorithms Used</a:t>
            </a:r>
            <a:endParaRPr lang="en-IN" sz="20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Logistic Regression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Decision Tree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Random Forest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Used for classification and prediction of diseases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Random Forest improves accuracy by combining multiple trees </a:t>
            </a:r>
            <a:endParaRPr lang="en-IN" sz="18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Design Approach</a:t>
            </a:r>
            <a:endParaRPr lang="en-IN" sz="20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Collect medical datasets (diabetes, heart, Parkinson’s)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Perform data preprocessing (cleaning, normalization)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Select important features for better accuracy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Train machine learning models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Test and evaluate model performance </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Select best-performing model for deployment</a:t>
            </a:r>
            <a:endParaRPr lang="en-IN" sz="2000" b="1" dirty="0">
              <a:latin typeface="Times New Roman" panose="02020603050405020304" pitchFamily="18" charset="0"/>
              <a:cs typeface="Times New Roman" panose="02020603050405020304" pitchFamily="18" charset="0"/>
            </a:endParaRPr>
          </a:p>
          <a:p>
            <a:pPr marL="0" indent="0">
              <a:buNone/>
            </a:pPr>
            <a:endParaRPr lang="en-IN" sz="2000" b="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15FFB74-1D6B-4F65-8BC6-26D0BCAF5C78}"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
        <p:nvSpPr>
          <p:cNvPr id="8" name="Text Box 7"/>
          <p:cNvSpPr txBox="1"/>
          <p:nvPr/>
        </p:nvSpPr>
        <p:spPr>
          <a:xfrm>
            <a:off x="2489835" y="66040"/>
            <a:ext cx="4572000" cy="398780"/>
          </a:xfrm>
          <a:prstGeom prst="rect">
            <a:avLst/>
          </a:prstGeom>
          <a:noFill/>
        </p:spPr>
        <p:txBody>
          <a:bodyPr wrap="square" rtlCol="0" anchor="t">
            <a:spAutoFit/>
          </a:bodyPr>
          <a:p>
            <a:pPr algn="ctr"/>
            <a:r>
              <a:rPr lang="en-IN" sz="2000" b="1" dirty="0" err="1">
                <a:latin typeface="Times New Roman" panose="02020603050405020304" pitchFamily="18" charset="0"/>
                <a:cs typeface="Times New Roman" panose="02020603050405020304" pitchFamily="18" charset="0"/>
                <a:sym typeface="+mn-ea"/>
              </a:rPr>
              <a:t>WorkFlow</a:t>
            </a:r>
            <a:endParaRPr lang="en-IN" sz="2000" b="1" dirty="0" err="1">
              <a:latin typeface="Times New Roman" panose="02020603050405020304" pitchFamily="18" charset="0"/>
              <a:cs typeface="Times New Roman" panose="02020603050405020304" pitchFamily="18" charset="0"/>
              <a:sym typeface="+mn-ea"/>
            </a:endParaRPr>
          </a:p>
        </p:txBody>
      </p:sp>
      <p:pic>
        <p:nvPicPr>
          <p:cNvPr id="9" name="Picture 8" descr="aa195d2a-406f-4868-8ccf-eb83556793aa"/>
          <p:cNvPicPr>
            <a:picLocks noChangeAspect="1"/>
          </p:cNvPicPr>
          <p:nvPr/>
        </p:nvPicPr>
        <p:blipFill>
          <a:blip r:embed="rId1"/>
          <a:stretch>
            <a:fillRect/>
          </a:stretch>
        </p:blipFill>
        <p:spPr>
          <a:xfrm>
            <a:off x="0" y="432435"/>
            <a:ext cx="9144000" cy="6425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latin typeface="Times New Roman" panose="02020603050405020304" pitchFamily="18" charset="0"/>
                <a:cs typeface="Times New Roman" panose="02020603050405020304" pitchFamily="18" charset="0"/>
              </a:rPr>
              <a:t>Implementation</a:t>
            </a:r>
            <a:endParaRPr sz="30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4181" y="1166018"/>
            <a:ext cx="8229600" cy="4525963"/>
          </a:xfrm>
        </p:spPr>
        <p:txBody>
          <a:bodyPr>
            <a:noAutofit/>
          </a:bodyPr>
          <a:lstStyle/>
          <a:p>
            <a:r>
              <a:rPr lang="en-IN" sz="1800" b="1" dirty="0">
                <a:latin typeface="Times New Roman" panose="02020603050405020304" pitchFamily="18" charset="0"/>
                <a:cs typeface="Times New Roman" panose="02020603050405020304" pitchFamily="18" charset="0"/>
              </a:rPr>
              <a:t>Tools &amp; Technologies</a:t>
            </a:r>
            <a:endParaRPr lang="en-IN" sz="18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Python – Programming language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Scikit-learn, TensorFlow/</a:t>
            </a:r>
            <a:r>
              <a:rPr lang="en-IN" sz="1600" dirty="0" err="1">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 Machine learning &amp; deep learning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NumPy, Pandas – Data processing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Matplotlib, Seaborn – Visualization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 Web interface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OpenCV, Pillow(PIL) – Image processing </a:t>
            </a:r>
            <a:endParaRPr lang="en-IN"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1600" dirty="0">
                <a:latin typeface="Times New Roman" panose="02020603050405020304" pitchFamily="18" charset="0"/>
                <a:cs typeface="Times New Roman" panose="02020603050405020304" pitchFamily="18" charset="0"/>
              </a:rPr>
              <a:t>Pickle/</a:t>
            </a:r>
            <a:r>
              <a:rPr lang="en-IN" sz="1600" dirty="0" err="1">
                <a:latin typeface="Times New Roman" panose="02020603050405020304" pitchFamily="18" charset="0"/>
                <a:cs typeface="Times New Roman" panose="02020603050405020304" pitchFamily="18" charset="0"/>
              </a:rPr>
              <a:t>Joblib </a:t>
            </a:r>
            <a:r>
              <a:rPr lang="en-IN" sz="1600" dirty="0">
                <a:latin typeface="Times New Roman" panose="02020603050405020304" pitchFamily="18" charset="0"/>
                <a:cs typeface="Times New Roman" panose="02020603050405020304" pitchFamily="18" charset="0"/>
              </a:rPr>
              <a:t>– Model handling &amp; explanation </a:t>
            </a:r>
            <a:endParaRPr lang="en-IN" sz="16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Development Details</a:t>
            </a:r>
            <a:endParaRPr lang="en-US" sz="18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Collected and preprocessed datasets for multiple diseases </a:t>
            </a:r>
            <a:endParaRPr lang="en-US"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Selected features and trained ML models (Logistic Regression, Decision Tree, Random Forest</a:t>
            </a:r>
            <a:r>
              <a:rPr lang="en-IN" altLang="en-US" sz="1600" dirty="0">
                <a:latin typeface="Times New Roman" panose="02020603050405020304" pitchFamily="18" charset="0"/>
                <a:cs typeface="Times New Roman" panose="02020603050405020304" pitchFamily="18" charset="0"/>
              </a:rPr>
              <a:t> and XG Boost</a:t>
            </a:r>
            <a:r>
              <a:rPr lang="en-US"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Evaluated and selected the best-performing model </a:t>
            </a:r>
            <a:endParaRPr lang="en-US"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Saved models using Pickle/</a:t>
            </a:r>
            <a:r>
              <a:rPr lang="en-IN" altLang="en-US" sz="1600" dirty="0">
                <a:latin typeface="Times New Roman" panose="02020603050405020304" pitchFamily="18" charset="0"/>
                <a:cs typeface="Times New Roman" panose="02020603050405020304" pitchFamily="18" charset="0"/>
              </a:rPr>
              <a:t>Keras</a:t>
            </a:r>
            <a:endParaRPr lang="en-US"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Developed user interface using </a:t>
            </a:r>
            <a:r>
              <a:rPr lang="en-US" sz="1600" dirty="0" err="1">
                <a:latin typeface="Times New Roman" panose="02020603050405020304" pitchFamily="18" charset="0"/>
                <a:cs typeface="Times New Roman" panose="02020603050405020304" pitchFamily="18" charset="0"/>
              </a:rPr>
              <a:t>Streamlit</a:t>
            </a:r>
            <a:r>
              <a:rPr lang="en-US" sz="1600" dirty="0">
                <a:latin typeface="Times New Roman" panose="02020603050405020304" pitchFamily="18" charset="0"/>
                <a:cs typeface="Times New Roman" panose="02020603050405020304" pitchFamily="18" charset="0"/>
              </a:rPr>
              <a:t> and integrated models </a:t>
            </a:r>
            <a:endParaRPr lang="en-US" sz="1600"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1600" dirty="0">
                <a:latin typeface="Times New Roman" panose="02020603050405020304" pitchFamily="18" charset="0"/>
                <a:cs typeface="Times New Roman" panose="02020603050405020304" pitchFamily="18" charset="0"/>
              </a:rPr>
              <a:t>Tested system with real-time inputs for prediction</a:t>
            </a:r>
            <a:endParaRPr lang="en-US" sz="1600" dirty="0">
              <a:latin typeface="Times New Roman" panose="02020603050405020304" pitchFamily="18" charset="0"/>
              <a:cs typeface="Times New Roman" panose="02020603050405020304" pitchFamily="18" charset="0"/>
            </a:endParaRPr>
          </a:p>
          <a:p>
            <a:pPr marL="0" indent="0">
              <a:buNone/>
            </a:pPr>
            <a:endParaRPr lang="en-IN" sz="16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3EBADB4-2467-4B2A-A092-609C21A18AF4}"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dirty="0">
                <a:latin typeface="Times New Roman" panose="02020603050405020304" pitchFamily="18" charset="0"/>
                <a:cs typeface="Times New Roman" panose="02020603050405020304" pitchFamily="18" charset="0"/>
              </a:rPr>
              <a:t>Results</a:t>
            </a:r>
            <a:endParaRPr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46156D0-2B31-4FB9-9352-480E4216DF42}"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pic>
        <p:nvPicPr>
          <p:cNvPr id="6" name="Picture 5"/>
          <p:cNvPicPr>
            <a:picLocks noChangeAspect="1"/>
          </p:cNvPicPr>
          <p:nvPr/>
        </p:nvPicPr>
        <p:blipFill>
          <a:blip r:embed="rId1"/>
          <a:stretch>
            <a:fillRect/>
          </a:stretch>
        </p:blipFill>
        <p:spPr>
          <a:xfrm>
            <a:off x="629285" y="1185545"/>
            <a:ext cx="7884795" cy="50317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pic>
        <p:nvPicPr>
          <p:cNvPr id="6" name="Picture 5"/>
          <p:cNvPicPr>
            <a:picLocks noChangeAspect="1"/>
          </p:cNvPicPr>
          <p:nvPr/>
        </p:nvPicPr>
        <p:blipFill>
          <a:blip r:embed="rId1"/>
          <a:stretch>
            <a:fillRect/>
          </a:stretch>
        </p:blipFill>
        <p:spPr>
          <a:xfrm>
            <a:off x="457200" y="1054100"/>
            <a:ext cx="8324215" cy="50476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pic>
        <p:nvPicPr>
          <p:cNvPr id="6" name="Picture 5"/>
          <p:cNvPicPr>
            <a:picLocks noChangeAspect="1"/>
          </p:cNvPicPr>
          <p:nvPr/>
        </p:nvPicPr>
        <p:blipFill>
          <a:blip r:embed="rId1"/>
          <a:stretch>
            <a:fillRect/>
          </a:stretch>
        </p:blipFill>
        <p:spPr>
          <a:xfrm>
            <a:off x="457200" y="257810"/>
            <a:ext cx="4135120" cy="3535045"/>
          </a:xfrm>
          <a:prstGeom prst="rect">
            <a:avLst/>
          </a:prstGeom>
        </p:spPr>
      </p:pic>
      <p:pic>
        <p:nvPicPr>
          <p:cNvPr id="7" name="Picture 6"/>
          <p:cNvPicPr>
            <a:picLocks noChangeAspect="1"/>
          </p:cNvPicPr>
          <p:nvPr/>
        </p:nvPicPr>
        <p:blipFill>
          <a:blip r:embed="rId2"/>
          <a:stretch>
            <a:fillRect/>
          </a:stretch>
        </p:blipFill>
        <p:spPr>
          <a:xfrm>
            <a:off x="4598670" y="2624455"/>
            <a:ext cx="4079240" cy="3875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pic>
        <p:nvPicPr>
          <p:cNvPr id="6" name="Picture 5"/>
          <p:cNvPicPr>
            <a:picLocks noChangeAspect="1"/>
          </p:cNvPicPr>
          <p:nvPr/>
        </p:nvPicPr>
        <p:blipFill>
          <a:blip r:embed="rId1"/>
          <a:stretch>
            <a:fillRect/>
          </a:stretch>
        </p:blipFill>
        <p:spPr>
          <a:xfrm>
            <a:off x="142875" y="316230"/>
            <a:ext cx="4436745" cy="4838700"/>
          </a:xfrm>
          <a:prstGeom prst="rect">
            <a:avLst/>
          </a:prstGeom>
        </p:spPr>
      </p:pic>
      <p:pic>
        <p:nvPicPr>
          <p:cNvPr id="7" name="Picture 6"/>
          <p:cNvPicPr>
            <a:picLocks noChangeAspect="1"/>
          </p:cNvPicPr>
          <p:nvPr/>
        </p:nvPicPr>
        <p:blipFill>
          <a:blip r:embed="rId2"/>
          <a:stretch>
            <a:fillRect/>
          </a:stretch>
        </p:blipFill>
        <p:spPr>
          <a:xfrm>
            <a:off x="4707255" y="312420"/>
            <a:ext cx="4346575" cy="4842510"/>
          </a:xfrm>
          <a:prstGeom prst="rect">
            <a:avLst/>
          </a:prstGeom>
        </p:spPr>
      </p:pic>
      <p:pic>
        <p:nvPicPr>
          <p:cNvPr id="8" name="Picture 7"/>
          <p:cNvPicPr>
            <a:picLocks noChangeAspect="1"/>
          </p:cNvPicPr>
          <p:nvPr/>
        </p:nvPicPr>
        <p:blipFill>
          <a:blip r:embed="rId3"/>
          <a:stretch>
            <a:fillRect/>
          </a:stretch>
        </p:blipFill>
        <p:spPr>
          <a:xfrm>
            <a:off x="2220595" y="5171440"/>
            <a:ext cx="4771390" cy="16249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pic>
        <p:nvPicPr>
          <p:cNvPr id="2" name="Picture 1" descr="performance"/>
          <p:cNvPicPr>
            <a:picLocks noChangeAspect="1"/>
          </p:cNvPicPr>
          <p:nvPr/>
        </p:nvPicPr>
        <p:blipFill>
          <a:blip r:embed="rId1"/>
          <a:stretch>
            <a:fillRect/>
          </a:stretch>
        </p:blipFill>
        <p:spPr>
          <a:xfrm>
            <a:off x="0" y="381000"/>
            <a:ext cx="91440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latin typeface="Times New Roman" panose="02020603050405020304" pitchFamily="18" charset="0"/>
                <a:cs typeface="Times New Roman" panose="02020603050405020304" pitchFamily="18" charset="0"/>
              </a:rPr>
              <a:t>Conclusion &amp; Future Work</a:t>
            </a:r>
            <a:endParaRPr sz="30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sz="2400" b="1" dirty="0">
                <a:latin typeface="Times New Roman" panose="02020603050405020304" pitchFamily="18" charset="0"/>
                <a:cs typeface="Times New Roman" panose="02020603050405020304" pitchFamily="18" charset="0"/>
              </a:rPr>
              <a:t>Summary of work</a:t>
            </a:r>
            <a:endParaRPr lang="en-US" sz="2400" b="1" dirty="0">
              <a:latin typeface="Times New Roman" panose="02020603050405020304" pitchFamily="18" charset="0"/>
              <a:cs typeface="Times New Roman" panose="02020603050405020304" pitchFamily="18" charset="0"/>
            </a:endParaRPr>
          </a:p>
          <a:p>
            <a:pPr marL="0" indent="0">
              <a:buNone/>
            </a:pPr>
            <a:endParaRPr sz="2000" b="0" dirty="0"/>
          </a:p>
          <a:p>
            <a:pPr>
              <a:lnSpc>
                <a:spcPct val="150000"/>
              </a:lnSpc>
              <a:buFont typeface="Arial" panose="020B0604020202020204" pitchFamily="34" charset="0"/>
              <a:buChar char="•"/>
            </a:pPr>
            <a:r>
              <a:rPr lang="en-US" sz="1600" dirty="0"/>
              <a:t>Developed a multi-disease prediction system using Machine Learning and Deep Learning </a:t>
            </a:r>
            <a:endParaRPr lang="en-US" sz="1600" dirty="0"/>
          </a:p>
          <a:p>
            <a:pPr>
              <a:lnSpc>
                <a:spcPct val="150000"/>
              </a:lnSpc>
              <a:buFont typeface="Arial" panose="020B0604020202020204" pitchFamily="34" charset="0"/>
              <a:buChar char="•"/>
            </a:pPr>
            <a:r>
              <a:rPr lang="en-US" sz="1600" dirty="0"/>
              <a:t>Integrated prediction for </a:t>
            </a:r>
            <a:r>
              <a:rPr lang="en-IN" altLang="en-US" sz="1600" dirty="0"/>
              <a:t>9</a:t>
            </a:r>
            <a:r>
              <a:rPr lang="en-US" sz="1600" dirty="0"/>
              <a:t> different diseases in a single platform </a:t>
            </a:r>
            <a:endParaRPr lang="en-US" sz="1600" dirty="0"/>
          </a:p>
          <a:p>
            <a:pPr>
              <a:lnSpc>
                <a:spcPct val="150000"/>
              </a:lnSpc>
              <a:buFont typeface="Arial" panose="020B0604020202020204" pitchFamily="34" charset="0"/>
              <a:buChar char="•"/>
            </a:pPr>
            <a:r>
              <a:rPr lang="en-US" sz="1600" dirty="0"/>
              <a:t>Supports both tabular data (ML models) and image data (CNN models) </a:t>
            </a:r>
            <a:endParaRPr lang="en-US" sz="1600" dirty="0"/>
          </a:p>
          <a:p>
            <a:pPr>
              <a:lnSpc>
                <a:spcPct val="150000"/>
              </a:lnSpc>
              <a:buFont typeface="Arial" panose="020B0604020202020204" pitchFamily="34" charset="0"/>
              <a:buChar char="•"/>
            </a:pPr>
            <a:r>
              <a:rPr lang="en-US" sz="1600" dirty="0"/>
              <a:t>Built a user-friendly web interface using </a:t>
            </a:r>
            <a:r>
              <a:rPr lang="en-US" sz="1600" dirty="0" err="1"/>
              <a:t>Streamlit</a:t>
            </a:r>
            <a:r>
              <a:rPr lang="en-US" sz="1600" dirty="0"/>
              <a:t> </a:t>
            </a:r>
            <a:endParaRPr lang="en-US" sz="1600" dirty="0"/>
          </a:p>
          <a:p>
            <a:pPr>
              <a:lnSpc>
                <a:spcPct val="150000"/>
              </a:lnSpc>
              <a:buFont typeface="Arial" panose="020B0604020202020204" pitchFamily="34" charset="0"/>
              <a:buChar char="•"/>
            </a:pPr>
            <a:r>
              <a:rPr lang="en-US" sz="1600" dirty="0"/>
              <a:t>Implemented a modular architecture with preprocessing</a:t>
            </a:r>
            <a:r>
              <a:rPr lang="en-IN" altLang="en-US" sz="1600" dirty="0"/>
              <a:t> and </a:t>
            </a:r>
            <a:r>
              <a:rPr lang="en-US" sz="1600" dirty="0"/>
              <a:t>model selection</a:t>
            </a:r>
            <a:endParaRPr lang="en-US" sz="1600" dirty="0"/>
          </a:p>
          <a:p>
            <a:pPr>
              <a:lnSpc>
                <a:spcPct val="150000"/>
              </a:lnSpc>
              <a:buFont typeface="Arial" panose="020B0604020202020204" pitchFamily="34" charset="0"/>
              <a:buChar char="•"/>
            </a:pPr>
            <a:r>
              <a:rPr lang="en-US" sz="1600" dirty="0"/>
              <a:t>Displays prediction results along with confidence score </a:t>
            </a:r>
            <a:endParaRPr lang="en-US" sz="1600" dirty="0"/>
          </a:p>
          <a:p>
            <a:pPr>
              <a:lnSpc>
                <a:spcPct val="150000"/>
              </a:lnSpc>
              <a:buFont typeface="Arial" panose="020B0604020202020204" pitchFamily="34" charset="0"/>
              <a:buChar char="•"/>
            </a:pPr>
            <a:r>
              <a:rPr lang="en-US" sz="1600" dirty="0"/>
              <a:t>Designed a system that is scalable and easy to extend </a:t>
            </a:r>
            <a:endParaRPr lang="en-US" sz="1600" dirty="0"/>
          </a:p>
          <a:p>
            <a:pPr marL="0" indent="0">
              <a:buNone/>
            </a:pPr>
            <a:endParaRPr lang="en-US" sz="2000" b="0" dirty="0"/>
          </a:p>
          <a:p>
            <a:pPr marL="0" indent="0">
              <a:buNone/>
            </a:pPr>
            <a:endParaRPr lang="en-US" sz="2000" b="0" dirty="0"/>
          </a:p>
          <a:p>
            <a:endParaRPr lang="en-US" sz="2000" dirty="0"/>
          </a:p>
          <a:p>
            <a:pPr marL="0" indent="0">
              <a:buNone/>
            </a:pPr>
            <a:endParaRPr sz="2000" b="0" dirty="0"/>
          </a:p>
          <a:p>
            <a:pPr marL="457200" lvl="1" indent="0">
              <a:buNone/>
            </a:pPr>
            <a:endParaRPr lang="en-US" sz="1600" dirty="0">
              <a:latin typeface="Calibri" panose="020F0502020204030204" charset="0"/>
              <a:ea typeface="Calibri" panose="020F0502020204030204" charset="0"/>
              <a:cs typeface="Calibri" panose="020F0502020204030204" charset="0"/>
            </a:endParaRPr>
          </a:p>
          <a:p>
            <a:pPr>
              <a:buFont typeface="Arial" panose="020B0604020202020204" pitchFamily="34" charset="0"/>
              <a:buChar char="•"/>
            </a:pPr>
            <a:endParaRPr lang="en-US" sz="2000" dirty="0">
              <a:latin typeface="Calibri" panose="020F0502020204030204" charset="0"/>
              <a:ea typeface="Calibri" panose="020F0502020204030204" charset="0"/>
              <a:cs typeface="Calibri" panose="020F0502020204030204" charset="0"/>
            </a:endParaRPr>
          </a:p>
          <a:p>
            <a:endParaRPr sz="2000" b="0" dirty="0"/>
          </a:p>
        </p:txBody>
      </p:sp>
      <p:sp>
        <p:nvSpPr>
          <p:cNvPr id="4" name="Date Placeholder 3"/>
          <p:cNvSpPr>
            <a:spLocks noGrp="1"/>
          </p:cNvSpPr>
          <p:nvPr>
            <p:ph type="dt" sz="half" idx="10"/>
          </p:nvPr>
        </p:nvSpPr>
        <p:spPr/>
        <p:txBody>
          <a:bodyPr/>
          <a:lstStyle/>
          <a:p>
            <a:fld id="{D81B17A3-1A26-48CD-8472-B3ADF7B18208}"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9398432-41DD-4534-BBFC-AAFF620265B2}"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
        <p:nvSpPr>
          <p:cNvPr id="7" name="TextBox 6"/>
          <p:cNvSpPr txBox="1"/>
          <p:nvPr/>
        </p:nvSpPr>
        <p:spPr>
          <a:xfrm>
            <a:off x="457200" y="676910"/>
            <a:ext cx="8109585" cy="4502785"/>
          </a:xfrm>
          <a:prstGeom prst="rect">
            <a:avLst/>
          </a:prstGeom>
          <a:noFill/>
        </p:spPr>
        <p:txBody>
          <a:bodyPr wrap="square">
            <a:no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Improvements</a:t>
            </a:r>
            <a:endParaRPr lang="en-US" sz="2400" b="1" dirty="0">
              <a:latin typeface="Times New Roman" panose="02020603050405020304" pitchFamily="18" charset="0"/>
              <a:cs typeface="Times New Roman" panose="02020603050405020304" pitchFamily="18" charset="0"/>
            </a:endParaRPr>
          </a:p>
          <a:p>
            <a:pPr marL="0" indent="0">
              <a:lnSpc>
                <a:spcPct val="150000"/>
              </a:lnSpc>
              <a:buNone/>
            </a:pPr>
            <a:endParaRPr lang="en-US" sz="2400" b="1" dirty="0"/>
          </a:p>
          <a:p>
            <a:pPr algn="just">
              <a:lnSpc>
                <a:spcPct val="150000"/>
              </a:lnSpc>
              <a:buFont typeface="Arial" panose="020B0604020202020204" pitchFamily="34" charset="0"/>
              <a:buChar char="•"/>
            </a:pPr>
            <a:r>
              <a:rPr lang="en-US" dirty="0"/>
              <a:t>Use larger and real-world datasets for better performance  </a:t>
            </a:r>
            <a:endParaRPr lang="en-US" dirty="0"/>
          </a:p>
          <a:p>
            <a:pPr algn="just">
              <a:lnSpc>
                <a:spcPct val="150000"/>
              </a:lnSpc>
              <a:buFont typeface="Arial" panose="020B0604020202020204" pitchFamily="34" charset="0"/>
              <a:buChar char="•"/>
            </a:pPr>
            <a:r>
              <a:rPr lang="en-US" dirty="0"/>
              <a:t>Deploy the system on cloud platforms (AWS, Render) </a:t>
            </a:r>
            <a:endParaRPr lang="en-US" dirty="0"/>
          </a:p>
          <a:p>
            <a:pPr algn="just">
              <a:lnSpc>
                <a:spcPct val="150000"/>
              </a:lnSpc>
              <a:buFont typeface="Arial" panose="020B0604020202020204" pitchFamily="34" charset="0"/>
              <a:buChar char="•"/>
            </a:pPr>
            <a:r>
              <a:rPr lang="en-US" dirty="0"/>
              <a:t>Convert system into API-based architecture for integration </a:t>
            </a:r>
            <a:endParaRPr lang="en-US" dirty="0"/>
          </a:p>
          <a:p>
            <a:pPr algn="just">
              <a:lnSpc>
                <a:spcPct val="150000"/>
              </a:lnSpc>
              <a:buFont typeface="Arial" panose="020B0604020202020204" pitchFamily="34" charset="0"/>
              <a:buChar char="•"/>
            </a:pPr>
            <a:r>
              <a:rPr lang="en-US" dirty="0"/>
              <a:t>Implement data security and user authentication </a:t>
            </a:r>
            <a:endParaRPr lang="en-US" dirty="0"/>
          </a:p>
          <a:p>
            <a:pPr algn="just">
              <a:lnSpc>
                <a:spcPct val="150000"/>
              </a:lnSpc>
              <a:buFont typeface="Arial" panose="020B0604020202020204" pitchFamily="34" charset="0"/>
              <a:buChar char="•"/>
            </a:pPr>
            <a:r>
              <a:rPr lang="en-US" dirty="0"/>
              <a:t>Add Explainable AI (SHAP, LIME) for better transparency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8C966-7E63-4B45-9A80-41EE244A149A}" type="datetime1">
              <a:rPr lang="en-US" smtClean="0"/>
            </a:fld>
            <a:endParaRPr lang="en-US"/>
          </a:p>
        </p:txBody>
      </p:sp>
      <p:sp>
        <p:nvSpPr>
          <p:cNvPr id="3" name="Slide Number Placeholder 2"/>
          <p:cNvSpPr>
            <a:spLocks noGrp="1"/>
          </p:cNvSpPr>
          <p:nvPr>
            <p:ph type="sldNum" sz="quarter" idx="12"/>
          </p:nvPr>
        </p:nvSpPr>
        <p:spPr/>
        <p:txBody>
          <a:bodyPr/>
          <a:lstStyle/>
          <a:p>
            <a:fld id="{C1FF6DA9-008F-8B48-92A6-B652298478BF}" type="slidenum">
              <a:rPr lang="en-US" smtClean="0"/>
            </a:fld>
            <a:endParaRPr lang="en-US"/>
          </a:p>
        </p:txBody>
      </p:sp>
      <p:sp>
        <p:nvSpPr>
          <p:cNvPr id="5" name="TextBox 4"/>
          <p:cNvSpPr txBox="1"/>
          <p:nvPr/>
        </p:nvSpPr>
        <p:spPr>
          <a:xfrm>
            <a:off x="641350" y="372745"/>
            <a:ext cx="7906385" cy="5882640"/>
          </a:xfrm>
          <a:prstGeom prst="rect">
            <a:avLst/>
          </a:prstGeom>
          <a:noFill/>
        </p:spPr>
        <p:txBody>
          <a:bodyPr wrap="square">
            <a:noAutofit/>
          </a:bodyPr>
          <a:lstStyle/>
          <a:p>
            <a:pPr marL="0" indent="0">
              <a:buNone/>
            </a:pPr>
            <a:r>
              <a:rPr lang="en-US" sz="2100" b="1" dirty="0">
                <a:latin typeface="Times New Roman" panose="02020603050405020304" pitchFamily="18" charset="0"/>
                <a:cs typeface="Times New Roman" panose="02020603050405020304" pitchFamily="18" charset="0"/>
              </a:rPr>
              <a:t>Future scope:</a:t>
            </a:r>
            <a:endParaRPr lang="en-US" sz="2100" b="1" dirty="0">
              <a:latin typeface="Times New Roman" panose="02020603050405020304" pitchFamily="18" charset="0"/>
              <a:cs typeface="Times New Roman" panose="02020603050405020304" pitchFamily="18" charset="0"/>
            </a:endParaRPr>
          </a:p>
          <a:p>
            <a:pPr marL="0" indent="0">
              <a:buNone/>
            </a:pPr>
            <a:endParaRPr lang="en-US" sz="2100" b="1" dirty="0"/>
          </a:p>
          <a:p>
            <a:pPr>
              <a:lnSpc>
                <a:spcPct val="150000"/>
              </a:lnSpc>
              <a:buFont typeface="Arial" panose="020B0604020202020204" pitchFamily="34" charset="0"/>
              <a:buChar char="•"/>
            </a:pPr>
            <a:r>
              <a:rPr lang="en-US" sz="2000" dirty="0">
                <a:latin typeface="Calibri" panose="020F0502020204030204" charset="0"/>
                <a:ea typeface="Calibri" panose="020F0502020204030204" charset="0"/>
                <a:cs typeface="Calibri" panose="020F0502020204030204" charset="0"/>
              </a:rPr>
              <a:t>Mobile Application</a:t>
            </a:r>
            <a:endParaRPr lang="en-US" sz="2000" dirty="0">
              <a:latin typeface="Calibri" panose="020F0502020204030204" charset="0"/>
              <a:ea typeface="Calibri" panose="020F0502020204030204" charset="0"/>
              <a:cs typeface="Calibri" panose="020F0502020204030204" charset="0"/>
            </a:endParaRPr>
          </a:p>
          <a:p>
            <a:pPr marL="457200" lvl="1" indent="0">
              <a:lnSpc>
                <a:spcPct val="150000"/>
              </a:lnSpc>
              <a:buNone/>
            </a:pPr>
            <a:r>
              <a:rPr lang="en-US" sz="1600" dirty="0">
                <a:latin typeface="Calibri" panose="020F0502020204030204" charset="0"/>
                <a:ea typeface="Calibri" panose="020F0502020204030204" charset="0"/>
                <a:cs typeface="Calibri" panose="020F0502020204030204" charset="0"/>
              </a:rPr>
              <a:t>Deploy as Android/iOS app for on-the-go patient self-assessment</a:t>
            </a:r>
            <a:endParaRPr lang="en-US" sz="1600" dirty="0">
              <a:latin typeface="Calibri" panose="020F0502020204030204" charset="0"/>
              <a:ea typeface="Calibri" panose="020F0502020204030204" charset="0"/>
              <a:cs typeface="Calibri" panose="020F0502020204030204" charset="0"/>
            </a:endParaRPr>
          </a:p>
          <a:p>
            <a:pPr>
              <a:lnSpc>
                <a:spcPct val="150000"/>
              </a:lnSpc>
              <a:buFont typeface="Arial" panose="020B0604020202020204" pitchFamily="34" charset="0"/>
              <a:buChar char="•"/>
            </a:pPr>
            <a:r>
              <a:rPr lang="en-US" sz="2000" dirty="0">
                <a:latin typeface="Calibri" panose="020F0502020204030204" charset="0"/>
                <a:ea typeface="Calibri" panose="020F0502020204030204" charset="0"/>
                <a:cs typeface="Calibri" panose="020F0502020204030204" charset="0"/>
              </a:rPr>
              <a:t>EHR Integration</a:t>
            </a:r>
            <a:endParaRPr lang="en-US" sz="2000" dirty="0">
              <a:latin typeface="Calibri" panose="020F0502020204030204" charset="0"/>
              <a:ea typeface="Calibri" panose="020F0502020204030204" charset="0"/>
              <a:cs typeface="Calibri" panose="020F0502020204030204" charset="0"/>
            </a:endParaRPr>
          </a:p>
          <a:p>
            <a:pPr marL="457200" lvl="1" indent="0">
              <a:lnSpc>
                <a:spcPct val="150000"/>
              </a:lnSpc>
              <a:buNone/>
            </a:pPr>
            <a:r>
              <a:rPr lang="en-US" sz="1600" dirty="0">
                <a:latin typeface="Calibri" panose="020F0502020204030204" charset="0"/>
                <a:ea typeface="Calibri" panose="020F0502020204030204" charset="0"/>
                <a:cs typeface="Calibri" panose="020F0502020204030204" charset="0"/>
              </a:rPr>
              <a:t>Connect with hospital systems for seamless patient data import</a:t>
            </a:r>
            <a:endParaRPr lang="en-US" sz="1600" dirty="0">
              <a:latin typeface="Calibri" panose="020F0502020204030204" charset="0"/>
              <a:ea typeface="Calibri" panose="020F0502020204030204" charset="0"/>
              <a:cs typeface="Calibri" panose="020F0502020204030204" charset="0"/>
            </a:endParaRPr>
          </a:p>
          <a:p>
            <a:pPr>
              <a:lnSpc>
                <a:spcPct val="150000"/>
              </a:lnSpc>
              <a:buFont typeface="Arial" panose="020B0604020202020204" pitchFamily="34" charset="0"/>
              <a:buChar char="•"/>
            </a:pPr>
            <a:r>
              <a:rPr lang="en-US" sz="2000" dirty="0">
                <a:latin typeface="Calibri" panose="020F0502020204030204" charset="0"/>
                <a:ea typeface="Calibri" panose="020F0502020204030204" charset="0"/>
                <a:cs typeface="Calibri" panose="020F0502020204030204" charset="0"/>
              </a:rPr>
              <a:t>Multi-Language Support</a:t>
            </a:r>
            <a:endParaRPr lang="en-US" sz="2000" dirty="0">
              <a:latin typeface="Calibri" panose="020F0502020204030204" charset="0"/>
              <a:ea typeface="Calibri" panose="020F0502020204030204" charset="0"/>
              <a:cs typeface="Calibri" panose="020F0502020204030204" charset="0"/>
            </a:endParaRPr>
          </a:p>
          <a:p>
            <a:pPr marL="457200" lvl="1" indent="0">
              <a:lnSpc>
                <a:spcPct val="150000"/>
              </a:lnSpc>
              <a:buNone/>
            </a:pPr>
            <a:r>
              <a:rPr lang="en-US" sz="1700" dirty="0">
                <a:latin typeface="Calibri" panose="020F0502020204030204" charset="0"/>
                <a:ea typeface="Calibri" panose="020F0502020204030204" charset="0"/>
                <a:cs typeface="Calibri" panose="020F0502020204030204" charset="0"/>
              </a:rPr>
              <a:t>Regional language interfaces for broader accessibility</a:t>
            </a:r>
            <a:endParaRPr lang="en-US" sz="1600" dirty="0">
              <a:latin typeface="Calibri" panose="020F0502020204030204" charset="0"/>
              <a:ea typeface="Calibri" panose="020F0502020204030204" charset="0"/>
              <a:cs typeface="Calibri" panose="020F0502020204030204" charset="0"/>
            </a:endParaRPr>
          </a:p>
          <a:p>
            <a:pPr>
              <a:lnSpc>
                <a:spcPct val="150000"/>
              </a:lnSpc>
              <a:buFont typeface="Arial" panose="020B0604020202020204" pitchFamily="34" charset="0"/>
              <a:buChar char="•"/>
            </a:pPr>
            <a:r>
              <a:rPr lang="en-IN" altLang="en-US" sz="2000" dirty="0">
                <a:latin typeface="Calibri" panose="020F0502020204030204" charset="0"/>
                <a:ea typeface="Calibri" panose="020F0502020204030204" charset="0"/>
                <a:cs typeface="Calibri" panose="020F0502020204030204" charset="0"/>
              </a:rPr>
              <a:t>Smart Hospital Management</a:t>
            </a:r>
            <a:r>
              <a:rPr lang="en-US" sz="2000" dirty="0">
                <a:latin typeface="Calibri" panose="020F0502020204030204" charset="0"/>
                <a:ea typeface="Calibri" panose="020F0502020204030204" charset="0"/>
                <a:cs typeface="Calibri" panose="020F0502020204030204" charset="0"/>
              </a:rPr>
              <a:t> System</a:t>
            </a:r>
            <a:r>
              <a:rPr lang="en-IN" altLang="en-US" sz="2000" dirty="0">
                <a:latin typeface="Calibri" panose="020F0502020204030204" charset="0"/>
                <a:ea typeface="Calibri" panose="020F0502020204030204" charset="0"/>
                <a:cs typeface="Calibri" panose="020F0502020204030204" charset="0"/>
              </a:rPr>
              <a:t>(n8n)</a:t>
            </a:r>
            <a:endParaRPr lang="en-US" sz="2000" dirty="0">
              <a:latin typeface="Calibri" panose="020F0502020204030204" charset="0"/>
              <a:ea typeface="Calibri" panose="020F0502020204030204" charset="0"/>
              <a:cs typeface="Calibri" panose="020F0502020204030204" charset="0"/>
            </a:endParaRPr>
          </a:p>
          <a:p>
            <a:pPr marL="457200" lvl="1" indent="0">
              <a:lnSpc>
                <a:spcPct val="150000"/>
              </a:lnSpc>
              <a:buNone/>
            </a:pPr>
            <a:r>
              <a:rPr lang="en-US" sz="1700" dirty="0">
                <a:latin typeface="Calibri" panose="020F0502020204030204" charset="0"/>
                <a:ea typeface="Calibri" panose="020F0502020204030204" charset="0"/>
                <a:cs typeface="Calibri" panose="020F0502020204030204" charset="0"/>
              </a:rPr>
              <a:t>Automated notifications for high-risk predictions to physicians</a:t>
            </a:r>
            <a:endParaRPr lang="en-US" sz="1700" dirty="0">
              <a:latin typeface="Calibri" panose="020F0502020204030204" charset="0"/>
              <a:ea typeface="Calibri" panose="020F0502020204030204" charset="0"/>
              <a:cs typeface="Calibri" panose="020F0502020204030204" charset="0"/>
            </a:endParaRPr>
          </a:p>
          <a:p>
            <a:pPr marL="457200" lvl="1" indent="0">
              <a:buNone/>
            </a:pPr>
            <a:endParaRPr lang="en-US" sz="1600" dirty="0">
              <a:latin typeface="Calibri" panose="020F0502020204030204" charset="0"/>
              <a:ea typeface="Calibri" panose="020F0502020204030204" charset="0"/>
              <a:cs typeface="Calibri" panose="020F0502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B191E1-6AC8-4929-BBDD-A1AFB2AB637F}"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pic>
        <p:nvPicPr>
          <p:cNvPr id="8" name="Picture 7" descr="refer"/>
          <p:cNvPicPr>
            <a:picLocks noChangeAspect="1"/>
          </p:cNvPicPr>
          <p:nvPr/>
        </p:nvPicPr>
        <p:blipFill>
          <a:blip r:embed="rId1"/>
          <a:stretch>
            <a:fillRect/>
          </a:stretch>
        </p:blipFill>
        <p:spPr>
          <a:xfrm>
            <a:off x="0" y="-635"/>
            <a:ext cx="9144000" cy="64033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56118"/>
            <a:ext cx="8229600" cy="1143000"/>
          </a:xfrm>
        </p:spPr>
        <p:txBody>
          <a:bodyPr/>
          <a:lstStyle/>
          <a:p>
            <a:r>
              <a:rPr sz="3000" b="1"/>
              <a:t>Thank You</a:t>
            </a:r>
            <a:endParaRPr sz="3000" b="1"/>
          </a:p>
        </p:txBody>
      </p:sp>
      <p:sp>
        <p:nvSpPr>
          <p:cNvPr id="4" name="Date Placeholder 3"/>
          <p:cNvSpPr>
            <a:spLocks noGrp="1"/>
          </p:cNvSpPr>
          <p:nvPr>
            <p:ph type="dt" sz="half" idx="10"/>
          </p:nvPr>
        </p:nvSpPr>
        <p:spPr/>
        <p:txBody>
          <a:bodyPr/>
          <a:lstStyle/>
          <a:p>
            <a:fld id="{CB38A200-9899-499A-B314-229A9733D5E2}" type="datetime1">
              <a:rPr lang="en-US" smtClean="0"/>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5458</Words>
  <Application>WPS Presentation</Application>
  <PresentationFormat>On-screen Show (4:3)</PresentationFormat>
  <Paragraphs>278</Paragraphs>
  <Slides>20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20</vt:i4>
      </vt:variant>
    </vt:vector>
  </HeadingPairs>
  <TitlesOfParts>
    <vt:vector size="37" baseType="lpstr">
      <vt:lpstr>Arial</vt:lpstr>
      <vt:lpstr>SimSun</vt:lpstr>
      <vt:lpstr>Wingdings</vt:lpstr>
      <vt:lpstr>Arial</vt:lpstr>
      <vt:lpstr>Aptos</vt:lpstr>
      <vt:lpstr>Liberation Serif</vt:lpstr>
      <vt:lpstr>Segoe Print</vt:lpstr>
      <vt:lpstr>Noto Sans CJK SC Regular</vt:lpstr>
      <vt:lpstr>Mangal</vt:lpstr>
      <vt:lpstr>Times New Roman</vt:lpstr>
      <vt:lpstr>Wingdings</vt:lpstr>
      <vt:lpstr>Calibri</vt:lpstr>
      <vt:lpstr>Segoe UI</vt:lpstr>
      <vt:lpstr>Microsoft YaHei</vt:lpstr>
      <vt:lpstr>Arial Unicode MS</vt:lpstr>
      <vt:lpstr>Segoe UI Symbol</vt:lpstr>
      <vt:lpstr>Office Theme</vt:lpstr>
      <vt:lpstr>Multiple Disease Prediction System</vt:lpstr>
      <vt:lpstr>Abstract</vt:lpstr>
      <vt:lpstr>Introduction</vt:lpstr>
      <vt:lpstr> </vt:lpstr>
      <vt:lpstr>Literature Survey</vt:lpstr>
      <vt:lpstr>System Architecture</vt:lpstr>
      <vt:lpstr>PowerPoint 演示文稿</vt:lpstr>
      <vt:lpstr>Methodology</vt:lpstr>
      <vt:lpstr>PowerPoint 演示文稿</vt:lpstr>
      <vt:lpstr>Implementation</vt:lpstr>
      <vt:lpstr>Results</vt:lpstr>
      <vt:lpstr>PowerPoint 演示文稿</vt:lpstr>
      <vt:lpstr>PowerPoint 演示文稿</vt:lpstr>
      <vt:lpstr>PowerPoint 演示文稿</vt:lpstr>
      <vt:lpstr>PowerPoint 演示文稿</vt:lpstr>
      <vt:lpstr>Conclusion &amp; Future Work</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Disease Prediction System</dc:title>
  <dc:creator>shrivatsa perur</dc:creator>
  <dc:description>generated using python-pptx</dc:description>
  <cp:lastModifiedBy>Vivek Lokolakar</cp:lastModifiedBy>
  <cp:revision>59</cp:revision>
  <dcterms:created xsi:type="dcterms:W3CDTF">2013-01-27T09:14:00Z</dcterms:created>
  <dcterms:modified xsi:type="dcterms:W3CDTF">2026-05-11T07:01:24Z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1DACF9E92107409E9E38B44CEEFC844A_12</vt:lpwstr>
  </property>
</Properties>
</file>